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scine.jpeg"/>
          <p:cNvPicPr>
            <a:picLocks noChangeAspect="1"/>
          </p:cNvPicPr>
          <p:nvPr/>
        </p:nvPicPr>
        <p:blipFill>
          <a:blip r:embed="rId2"/>
          <a:srcRect t="12489" b="124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0"/>
            <a:ext cx="109728" cy="685800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03504"/>
            <a:ext cx="1600200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612648"/>
            <a:ext cx="1453896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PROJET DE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3931920" cy="1417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Noto Sans"/>
              </a:rPr>
              <a:t>FOSE
SAFAR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52928"/>
            <a:ext cx="393192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ans"/>
              </a:rPr>
              <a:t>Application web de gestion des
réservations d’appartements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13632"/>
            <a:ext cx="38404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DEAE3"/>
                </a:solidFill>
                <a:latin typeface="Noto Sans"/>
              </a:rPr>
              <a:t>Digitaliser · Sécuriser · Simplifier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462272"/>
            <a:ext cx="3886200" cy="18288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718304"/>
            <a:ext cx="1097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DEAE3"/>
                </a:solidFill>
                <a:latin typeface="Noto Sans"/>
              </a:rPr>
              <a:t>Réalisé 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10912"/>
            <a:ext cx="41605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Iliane Firachine  ·  Rayane Firachine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49824"/>
            <a:ext cx="41605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DEAE3"/>
                </a:solidFill>
                <a:latin typeface="Noto Sans"/>
              </a:rPr>
              <a:t>Encadrante et présidente de la FOSE : Mme Siham Lafkir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6016752"/>
            <a:ext cx="3044952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ms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821" y="6071616"/>
            <a:ext cx="167204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Un patrimoine social à rendre accessible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02</a:t>
            </a:r>
          </a:p>
        </p:txBody>
      </p:sp>
      <p:pic>
        <p:nvPicPr>
          <p:cNvPr id="6" name="Picture 5" descr="balcon.jpeg"/>
          <p:cNvPicPr>
            <a:picLocks noChangeAspect="1"/>
          </p:cNvPicPr>
          <p:nvPr/>
        </p:nvPicPr>
        <p:blipFill>
          <a:blip r:embed="rId2"/>
          <a:srcRect t="11024" b="11024"/>
          <a:stretch>
            <a:fillRect/>
          </a:stretch>
        </p:blipFill>
        <p:spPr>
          <a:xfrm>
            <a:off x="658368" y="1737360"/>
            <a:ext cx="461772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" y="5148072"/>
            <a:ext cx="2697480" cy="53035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48656"/>
            <a:ext cx="24231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Résidence Amwaj · Sidi Rahal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1773936"/>
            <a:ext cx="16459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50992" y="1773936"/>
            <a:ext cx="73152" cy="1188720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7024" y="1956816"/>
            <a:ext cx="123444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4B3F"/>
                </a:solidFill>
                <a:latin typeface="Noto San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4" y="2478024"/>
            <a:ext cx="12344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746F"/>
                </a:solidFill>
                <a:latin typeface="Noto Sans"/>
              </a:rPr>
              <a:t>APPARTEMENTS FOSE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773936"/>
            <a:ext cx="16459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1773936"/>
            <a:ext cx="73152" cy="1188720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956816"/>
            <a:ext cx="123444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5651D"/>
                </a:solidFill>
                <a:latin typeface="Noto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2478024"/>
            <a:ext cx="12344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746F"/>
                </a:solidFill>
                <a:latin typeface="Noto Sans"/>
              </a:rPr>
              <a:t>PROFILS CLIENTS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773936"/>
            <a:ext cx="18745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36608" y="1773936"/>
            <a:ext cx="73152" cy="1188720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956816"/>
            <a:ext cx="1463039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4B3F"/>
                </a:solidFill>
                <a:latin typeface="Noto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478024"/>
            <a:ext cx="146303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746F"/>
                </a:solidFill>
                <a:latin typeface="Noto Sans"/>
              </a:rPr>
              <a:t>PLATEFORME 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3310128"/>
            <a:ext cx="562356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La FOSE de l’enseignement Hay Hassani met en location ses appartements au sein d’une résidence privée, avec un avantage tarifaire destiné aux adhérents de la Fondation Mohammed VI.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4718304"/>
            <a:ext cx="5440680" cy="11430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clients FM6 : tarif préférentiel et règles de quota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clients réguliers : tarif standard, sans quota annuel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administration : pilotage centralisé du parc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Pourquoi digitaliser les réservations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1005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1D"/>
                </a:solidFill>
                <a:latin typeface="Noto Sans"/>
              </a:rPr>
              <a:t>AVANT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57984"/>
            <a:ext cx="475488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130552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Disponibilités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432304"/>
            <a:ext cx="3429000" cy="40233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Vérifications manuelles et risque de double réservation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008376"/>
            <a:ext cx="475488" cy="47548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17520"/>
            <a:ext cx="475488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990088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Tarification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91840"/>
            <a:ext cx="3429000" cy="40233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Calculs différents selon le profil du client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867912"/>
            <a:ext cx="475488" cy="47548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77056"/>
            <a:ext cx="475488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849624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Suivi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151376"/>
            <a:ext cx="3429000" cy="40233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Relances, paiements et justificatifs dispersés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4727448"/>
            <a:ext cx="475488" cy="47548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736592"/>
            <a:ext cx="475488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709160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Conformité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010912"/>
            <a:ext cx="3429000" cy="40233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Collecte des données sans parcours formalisé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21808" y="1783080"/>
            <a:ext cx="0" cy="4023360"/>
          </a:xfrm>
          <a:prstGeom prst="line">
            <a:avLst/>
          </a:prstGeom>
          <a:ln w="25400">
            <a:solidFill>
              <a:srgbClr val="1F4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065776" y="3429000"/>
            <a:ext cx="512064" cy="512064"/>
          </a:xfrm>
          <a:prstGeom prst="ellipse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3438144"/>
            <a:ext cx="51206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1773936"/>
            <a:ext cx="10972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4B3F"/>
                </a:solidFill>
                <a:latin typeface="Noto Sans"/>
              </a:rPr>
              <a:t>APRÈS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2148840"/>
            <a:ext cx="5532120" cy="350215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2542032"/>
            <a:ext cx="475488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Noto Sans"/>
              </a:rPr>
              <a:t>Un parcours numérique unique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3218688"/>
            <a:ext cx="4663440" cy="20116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FFFFF"/>
                </a:solidFill>
                <a:latin typeface="Noto Sans"/>
              </a:defRPr>
            </a:pPr>
            <a:r>
              <a:t>•  disponibilité calculée en temps réel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FFFFF"/>
                </a:solidFill>
                <a:latin typeface="Noto Sans"/>
              </a:defRPr>
            </a:pPr>
            <a:r>
              <a:t>•  règles métier appliquées automatiquement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FFFFF"/>
                </a:solidFill>
                <a:latin typeface="Noto Sans"/>
              </a:defRPr>
            </a:pPr>
            <a:r>
              <a:t>•  traçabilité de chaque réservation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FFFFF"/>
                </a:solidFill>
                <a:latin typeface="Noto Sans"/>
              </a:defRPr>
            </a:pPr>
            <a:r>
              <a:t>•  e-mails, paiement et reçu intégrés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FFFFF"/>
                </a:solidFill>
                <a:latin typeface="Noto Sans"/>
              </a:defRPr>
            </a:pPr>
            <a:r>
              <a:t>•  tableau de bord pour l’administration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Trois objectifs qui structurent 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456432" cy="3584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48840"/>
            <a:ext cx="658368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F4B3F"/>
                </a:solidFill>
                <a:latin typeface="Noto San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2724912"/>
            <a:ext cx="566928" cy="54864"/>
          </a:xfrm>
          <a:prstGeom prst="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72384"/>
            <a:ext cx="278892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A28"/>
                </a:solidFill>
                <a:latin typeface="Noto Sans"/>
              </a:rPr>
              <a:t>Simplifier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767328"/>
            <a:ext cx="278892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F746F"/>
                </a:solidFill>
                <a:latin typeface="Noto Sans"/>
              </a:rPr>
              <a:t>Permettre au client de réserver en autonomie, depuis la recherche jusqu’au reçu.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809744"/>
            <a:ext cx="2103120" cy="34747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818888"/>
            <a:ext cx="1956815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EXPÉRIENCE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1828800"/>
            <a:ext cx="3456432" cy="3584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148840"/>
            <a:ext cx="658368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5651D"/>
                </a:solidFill>
                <a:latin typeface="Noto San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2724912"/>
            <a:ext cx="566928" cy="54864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3072384"/>
            <a:ext cx="278892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A28"/>
                </a:solidFill>
                <a:latin typeface="Noto Sans"/>
              </a:rPr>
              <a:t>Fiabiliser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767328"/>
            <a:ext cx="278892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F746F"/>
                </a:solidFill>
                <a:latin typeface="Noto Sans"/>
              </a:rPr>
              <a:t>Bloquer les conflits de dates, automatiser les tarifs, quotas et expirations.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55464" y="4809744"/>
            <a:ext cx="2103120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8616" y="4818888"/>
            <a:ext cx="1956815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RÈGLES MÉTIER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5" y="1828800"/>
            <a:ext cx="3456432" cy="3584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5" y="2148840"/>
            <a:ext cx="658368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F4B3F"/>
                </a:solidFill>
                <a:latin typeface="Noto Sans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77655" y="2724912"/>
            <a:ext cx="566928" cy="54864"/>
          </a:xfrm>
          <a:prstGeom prst="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7655" y="3072384"/>
            <a:ext cx="2788920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A28"/>
                </a:solidFill>
                <a:latin typeface="Noto Sans"/>
              </a:rPr>
              <a:t>Piloter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5" y="3767328"/>
            <a:ext cx="278892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F746F"/>
                </a:solidFill>
                <a:latin typeface="Noto Sans"/>
              </a:rPr>
              <a:t>Donner à la FOSE une vision claire sur les logements, réservations et paiements.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7655" y="4809744"/>
            <a:ext cx="2103120" cy="34747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0807" y="4818888"/>
            <a:ext cx="1956815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DÉCISION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897880"/>
            <a:ext cx="106984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4B3F"/>
                </a:solidFill>
                <a:latin typeface="Noto Sans"/>
              </a:rPr>
              <a:t>La technologie sert le processus — et non l’inverse.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UTILISATEURS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Noto Sans"/>
              </a:rPr>
              <a:t>Trois acteurs, des parcours clairement définis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56231"/>
            <a:ext cx="3456432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2194560"/>
            <a:ext cx="713232" cy="71323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331720"/>
            <a:ext cx="713232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22402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A28"/>
                </a:solidFill>
                <a:latin typeface="Noto Sans"/>
              </a:rPr>
              <a:t>Administrateur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6" y="3072384"/>
            <a:ext cx="2761488" cy="18288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401568"/>
            <a:ext cx="2761488" cy="1554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gère les 12 appartements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suit réservations et paiements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consulte le tableau de 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856231"/>
            <a:ext cx="3456432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4608" y="2194560"/>
            <a:ext cx="713232" cy="71323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2331720"/>
            <a:ext cx="713232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4B3F"/>
                </a:solidFill>
                <a:latin typeface="Noto Sans"/>
              </a:rPr>
              <a:t>FM6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2402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A28"/>
                </a:solidFill>
                <a:latin typeface="Noto Sans"/>
              </a:rPr>
              <a:t>Client FM6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3072384"/>
            <a:ext cx="2761488" cy="18288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3401568"/>
            <a:ext cx="2761488" cy="1554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réserve et suit ses séjours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bénéficie du tarif réduit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quota annuel contrôlé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4608" y="5102352"/>
            <a:ext cx="1517904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5111496"/>
            <a:ext cx="1371600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500 MAD / nuit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5" y="1856231"/>
            <a:ext cx="3456432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799" y="2194560"/>
            <a:ext cx="713232" cy="713232"/>
          </a:xfrm>
          <a:prstGeom prst="ellipse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799" y="2331720"/>
            <a:ext cx="713232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4B3F"/>
                </a:solidFill>
                <a:latin typeface="Noto Sans"/>
              </a:rPr>
              <a:t>STD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9" y="22402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A28"/>
                </a:solidFill>
                <a:latin typeface="Noto Sans"/>
              </a:rPr>
              <a:t>Client régulier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799" y="3072384"/>
            <a:ext cx="2761488" cy="18288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799" y="3401568"/>
            <a:ext cx="2761488" cy="1554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réserve et paie en ligne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reçoit confirmations et reçu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aucun quota annuel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799" y="5102352"/>
            <a:ext cx="1517904" cy="34747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1" y="5111496"/>
            <a:ext cx="1371600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700 MAD / nuit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EDEAE3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EDEAE3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PARCOURS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B2A28"/>
                </a:solidFill>
                <a:latin typeface="Noto Sans"/>
              </a:rPr>
              <a:t>Une réservation en quatre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65960" y="2779776"/>
            <a:ext cx="1133856" cy="0"/>
          </a:xfrm>
          <a:prstGeom prst="line">
            <a:avLst/>
          </a:prstGeom>
          <a:ln w="762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1560" y="2029968"/>
            <a:ext cx="1444752" cy="1444752"/>
          </a:xfrm>
          <a:prstGeom prst="ellipse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76856"/>
            <a:ext cx="1444752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" y="3803904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A28"/>
                </a:solidFill>
                <a:latin typeface="Noto Sans"/>
              </a:rPr>
              <a:t>Choisir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97680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Dates + appartement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3752" y="2779776"/>
            <a:ext cx="1133856" cy="0"/>
          </a:xfrm>
          <a:prstGeom prst="line">
            <a:avLst/>
          </a:prstGeom>
          <a:ln w="762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959352" y="2029968"/>
            <a:ext cx="1444752" cy="144475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2276856"/>
            <a:ext cx="1444752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803904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A28"/>
                </a:solidFill>
                <a:latin typeface="Noto Sans"/>
              </a:rPr>
              <a:t>Confirmer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297680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Récapitulatif + politiques par e-mail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81544" y="2779776"/>
            <a:ext cx="1133856" cy="0"/>
          </a:xfrm>
          <a:prstGeom prst="line">
            <a:avLst/>
          </a:prstGeom>
          <a:ln w="762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67144" y="2029968"/>
            <a:ext cx="1444752" cy="1444752"/>
          </a:xfrm>
          <a:prstGeom prst="ellipse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276856"/>
            <a:ext cx="1444752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803904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A28"/>
                </a:solidFill>
                <a:latin typeface="Noto Sans"/>
              </a:rPr>
              <a:t>Payer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297680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Délai de 24 heures</a:t>
            </a:r>
          </a:p>
        </p:txBody>
      </p:sp>
      <p:sp>
        <p:nvSpPr>
          <p:cNvPr id="21" name="Oval 20"/>
          <p:cNvSpPr/>
          <p:nvPr/>
        </p:nvSpPr>
        <p:spPr>
          <a:xfrm>
            <a:off x="9774936" y="2029968"/>
            <a:ext cx="1444752" cy="144475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4936" y="2276856"/>
            <a:ext cx="1444752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803904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A28"/>
                </a:solidFill>
                <a:latin typeface="Noto Sans"/>
              </a:rPr>
              <a:t>Recevoir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4297680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Reçu PDF + pièces pour le check-in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5394960"/>
            <a:ext cx="6629400" cy="585216"/>
          </a:xfrm>
          <a:prstGeom prst="roundRect">
            <a:avLst/>
          </a:prstGeom>
          <a:solidFill>
            <a:srgbClr val="F1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5532120"/>
            <a:ext cx="62179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Noto Sans"/>
              </a:rPr>
              <a:t>Sans paiement sous 24 h : réservation expirée → appartement de nouveau disponible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RÈGLES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L’équité est encodée dans le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73936"/>
            <a:ext cx="5285232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103120"/>
            <a:ext cx="1417320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112263"/>
            <a:ext cx="1271016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CLIENT FM6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770632"/>
            <a:ext cx="2926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B5651D"/>
                </a:solidFill>
                <a:latin typeface="Noto Sans"/>
              </a:rPr>
              <a:t>500</a:t>
            </a:r>
            <a:r>
              <a:rPr sz="1600" b="1">
                <a:solidFill>
                  <a:srgbClr val="2B2A28"/>
                </a:solidFill>
                <a:latin typeface="Noto Sans"/>
              </a:rPr>
              <a:t> MAD / nuit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547872"/>
            <a:ext cx="4370832" cy="16916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6F746F"/>
                </a:solidFill>
                <a:latin typeface="Noto Sans"/>
              </a:defRPr>
            </a:pPr>
            <a:r>
              <a:t>•  5 nuits maximum par réservation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6F746F"/>
                </a:solidFill>
                <a:latin typeface="Noto Sans"/>
              </a:defRPr>
            </a:pPr>
            <a:r>
              <a:t>•  10 nuits maximum par année civile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6F746F"/>
                </a:solidFill>
                <a:latin typeface="Noto Sans"/>
              </a:defRPr>
            </a:pPr>
            <a:r>
              <a:t>•  matricule obligatoire à l’inscription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6F746F"/>
                </a:solidFill>
                <a:latin typeface="Noto Sans"/>
              </a:defRPr>
            </a:pPr>
            <a:r>
              <a:t>•  contrôles automatiques avant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73936"/>
            <a:ext cx="5285232" cy="4297680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2103120"/>
            <a:ext cx="1783080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2112263"/>
            <a:ext cx="1636776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CLIENT RÉGULIER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770632"/>
            <a:ext cx="2926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"/>
              </a:rPr>
              <a:t>700</a:t>
            </a:r>
            <a:r>
              <a:rPr sz="1600" b="1">
                <a:solidFill>
                  <a:srgbClr val="EDEAE3"/>
                </a:solidFill>
                <a:latin typeface="Noto Sans"/>
              </a:rPr>
              <a:t> MAD / nuit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47872"/>
            <a:ext cx="4370832" cy="16916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FFFFFF"/>
                </a:solidFill>
                <a:latin typeface="Noto Sans"/>
              </a:defRPr>
            </a:pPr>
            <a:r>
              <a:t>•  même parcours de réservation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FFFFFF"/>
                </a:solidFill>
                <a:latin typeface="Noto Sans"/>
              </a:defRPr>
            </a:pPr>
            <a:r>
              <a:t>•  mêmes services et notifications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FFFFFF"/>
                </a:solidFill>
                <a:latin typeface="Noto Sans"/>
              </a:defRPr>
            </a:pPr>
            <a:r>
              <a:t>•  aucun quota annuel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400">
                <a:solidFill>
                  <a:srgbClr val="FFFFFF"/>
                </a:solidFill>
                <a:latin typeface="Noto Sans"/>
              </a:defRPr>
            </a:pPr>
            <a:r>
              <a:t>•  tarification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6172200"/>
            <a:ext cx="8321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4B3F"/>
                </a:solidFill>
                <a:latin typeface="Noto Sans"/>
              </a:rPr>
              <a:t>Disponibilité, chevauchements et montant total sont recalculés côté serveur.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Les fonctionnalités clés de FOSE Safar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73936"/>
            <a:ext cx="3456432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2029967"/>
            <a:ext cx="73152" cy="62179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002536"/>
            <a:ext cx="269747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06040"/>
            <a:ext cx="290779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Recherche par dates, galerie et prix personnalisé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1773936"/>
            <a:ext cx="3456432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91456" y="2029967"/>
            <a:ext cx="73152" cy="62179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4" y="2002536"/>
            <a:ext cx="269747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Réservation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606040"/>
            <a:ext cx="290779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Numéro unique, historique et suivi des statuts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7615" y="1773936"/>
            <a:ext cx="3456432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13647" y="2029967"/>
            <a:ext cx="73152" cy="62179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0536" y="2002536"/>
            <a:ext cx="269747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Paiement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606040"/>
            <a:ext cx="290779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Carte, confirmation et reçu PDF envoyé par e-mail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58768"/>
            <a:ext cx="3456432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114800"/>
            <a:ext cx="73152" cy="62179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2" y="4087368"/>
            <a:ext cx="269747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690872"/>
            <a:ext cx="290779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Logements, périodes, réservations et paiements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3858768"/>
            <a:ext cx="3456432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91456" y="4114800"/>
            <a:ext cx="73152" cy="62179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8344" y="4087368"/>
            <a:ext cx="269747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4690872"/>
            <a:ext cx="290779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Politiques, confirmation, expiration et alertes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7615" y="3858768"/>
            <a:ext cx="3456432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13647" y="4114800"/>
            <a:ext cx="73152" cy="62179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0536" y="4087368"/>
            <a:ext cx="269747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Confidentialité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4690872"/>
            <a:ext cx="290779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Information, consentement horodaté et droits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6144768"/>
            <a:ext cx="8915400" cy="2926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6181344"/>
            <a:ext cx="8549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4B3F"/>
                </a:solidFill>
                <a:latin typeface="Noto Sans"/>
              </a:rPr>
              <a:t>Une seule source de vérité pour le client et l’administrateur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Noto Sans"/>
              </a:rPr>
              <a:t>Une application Django modulaire et maintenable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121408"/>
            <a:ext cx="2395728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95728"/>
            <a:ext cx="2066543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F4B3F"/>
                </a:solidFill>
                <a:latin typeface="Noto Sans"/>
              </a:rPr>
              <a:t>Navigateur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98064"/>
            <a:ext cx="20665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F4B3F"/>
                </a:solidFill>
                <a:latin typeface="Noto Sans"/>
              </a:rPr>
              <a:t>Interfaces responsives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542032"/>
            <a:ext cx="438912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DEAE3"/>
                </a:solidFill>
                <a:latin typeface="Noto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121408"/>
            <a:ext cx="2395728" cy="1325880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395728"/>
            <a:ext cx="2066543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Django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98064"/>
            <a:ext cx="20665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Noto Sans"/>
              </a:rPr>
              <a:t>Vues · formulaires · authentification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542032"/>
            <a:ext cx="438912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DEAE3"/>
                </a:solidFill>
                <a:latin typeface="Noto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2121408"/>
            <a:ext cx="2395728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395728"/>
            <a:ext cx="2066543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F4B3F"/>
                </a:solidFill>
                <a:latin typeface="Noto Sans"/>
              </a:rPr>
              <a:t>Services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798064"/>
            <a:ext cx="20665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F4B3F"/>
                </a:solidFill>
                <a:latin typeface="Noto Sans"/>
              </a:rPr>
              <a:t>Tarifs · quotas · expiration · e-mails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542032"/>
            <a:ext cx="438912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DEAE3"/>
                </a:solidFill>
                <a:latin typeface="Noto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63456" y="2121408"/>
            <a:ext cx="2395728" cy="1325880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2395728"/>
            <a:ext cx="2066543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798064"/>
            <a:ext cx="20665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Noto Sans"/>
              </a:rPr>
              <a:t>ORM · SQLite / 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334256"/>
            <a:ext cx="161848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343400"/>
            <a:ext cx="1472184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4B3F"/>
                </a:solidFill>
                <a:latin typeface="Noto Sans"/>
              </a:rPr>
              <a:t>accounts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4327" y="4334256"/>
            <a:ext cx="1618488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79" y="4343400"/>
            <a:ext cx="1472184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apartments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4334256"/>
            <a:ext cx="161848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343400"/>
            <a:ext cx="1472184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4B3F"/>
                </a:solidFill>
                <a:latin typeface="Noto Sans"/>
              </a:rPr>
              <a:t>reservations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4334256"/>
            <a:ext cx="1618488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43400"/>
            <a:ext cx="1472184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payments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4334256"/>
            <a:ext cx="161848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343400"/>
            <a:ext cx="1472184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4B3F"/>
                </a:solidFill>
                <a:latin typeface="Noto Sans"/>
              </a:rPr>
              <a:t>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22408" y="4334256"/>
            <a:ext cx="1618488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4343400"/>
            <a:ext cx="1472184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3886200"/>
            <a:ext cx="2286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DEAE3"/>
                </a:solidFill>
                <a:latin typeface="Noto Sans"/>
              </a:rPr>
              <a:t>Séparation par domaines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093208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DEAE3"/>
                </a:solidFill>
                <a:latin typeface="Noto Sans"/>
              </a:rPr>
              <a:t>Sécurité native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5404104"/>
            <a:ext cx="4709160" cy="8961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CSRF et sessions Django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mots de passe hachés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contrôles d’accès par rôle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transactions atomiques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5093208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DEAE3"/>
                </a:solidFill>
                <a:latin typeface="Noto Sans"/>
              </a:rPr>
              <a:t>Optimisation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404104"/>
            <a:ext cx="4572000" cy="8961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requêtes relationnelles optimisées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validation centralisée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pagination et filtres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00">
                <a:solidFill>
                  <a:srgbClr val="FFFFFF"/>
                </a:solidFill>
                <a:latin typeface="Noto Sans"/>
              </a:defRPr>
            </a:pPr>
            <a:r>
              <a:t>•  tests automatisés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EDEAE3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EDEAE3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Un séjour valorisé par une présentation visuelle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10</a:t>
            </a:r>
          </a:p>
        </p:txBody>
      </p:sp>
      <p:pic>
        <p:nvPicPr>
          <p:cNvPr id="6" name="Picture 5" descr="salon-appartement.jpeg"/>
          <p:cNvPicPr>
            <a:picLocks noChangeAspect="1"/>
          </p:cNvPicPr>
          <p:nvPr/>
        </p:nvPicPr>
        <p:blipFill>
          <a:blip r:embed="rId2"/>
          <a:srcRect t="20901" b="20901"/>
          <a:stretch>
            <a:fillRect/>
          </a:stretch>
        </p:blipFill>
        <p:spPr>
          <a:xfrm>
            <a:off x="658368" y="1719072"/>
            <a:ext cx="5166360" cy="19933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" y="3273552"/>
            <a:ext cx="1005840" cy="292608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319272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Salon</a:t>
            </a:r>
          </a:p>
        </p:txBody>
      </p:sp>
      <p:pic>
        <p:nvPicPr>
          <p:cNvPr id="9" name="Picture 8" descr="chambre-king.jpeg"/>
          <p:cNvPicPr>
            <a:picLocks noChangeAspect="1"/>
          </p:cNvPicPr>
          <p:nvPr/>
        </p:nvPicPr>
        <p:blipFill>
          <a:blip r:embed="rId3"/>
          <a:srcRect l="7038" r="7038"/>
          <a:stretch>
            <a:fillRect/>
          </a:stretch>
        </p:blipFill>
        <p:spPr>
          <a:xfrm>
            <a:off x="5998464" y="1719072"/>
            <a:ext cx="2587752" cy="19933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08192" y="3273552"/>
            <a:ext cx="1005840" cy="292608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3319272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Chambre</a:t>
            </a:r>
          </a:p>
        </p:txBody>
      </p:sp>
      <p:pic>
        <p:nvPicPr>
          <p:cNvPr id="12" name="Picture 11" descr="cuisine-appartement.jpeg"/>
          <p:cNvPicPr>
            <a:picLocks noChangeAspect="1"/>
          </p:cNvPicPr>
          <p:nvPr/>
        </p:nvPicPr>
        <p:blipFill>
          <a:blip r:embed="rId4"/>
          <a:srcRect l="3955" r="3955"/>
          <a:stretch>
            <a:fillRect/>
          </a:stretch>
        </p:blipFill>
        <p:spPr>
          <a:xfrm>
            <a:off x="8759952" y="1719072"/>
            <a:ext cx="2770632" cy="19933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3273552"/>
            <a:ext cx="1005840" cy="292608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319272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Cuisine</a:t>
            </a:r>
          </a:p>
        </p:txBody>
      </p:sp>
      <p:pic>
        <p:nvPicPr>
          <p:cNvPr id="15" name="Picture 14" descr="piscine-jardin.jpeg"/>
          <p:cNvPicPr>
            <a:picLocks noChangeAspect="1"/>
          </p:cNvPicPr>
          <p:nvPr/>
        </p:nvPicPr>
        <p:blipFill>
          <a:blip r:embed="rId5"/>
          <a:srcRect t="26567" b="26567"/>
          <a:stretch>
            <a:fillRect/>
          </a:stretch>
        </p:blipFill>
        <p:spPr>
          <a:xfrm>
            <a:off x="658368" y="3913632"/>
            <a:ext cx="2587752" cy="19385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8096" y="5413248"/>
            <a:ext cx="1005840" cy="292608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545896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Résidence</a:t>
            </a:r>
          </a:p>
        </p:txBody>
      </p:sp>
      <p:pic>
        <p:nvPicPr>
          <p:cNvPr id="18" name="Picture 17" descr="terrain-sport.jpeg"/>
          <p:cNvPicPr>
            <a:picLocks noChangeAspect="1"/>
          </p:cNvPicPr>
          <p:nvPr/>
        </p:nvPicPr>
        <p:blipFill>
          <a:blip r:embed="rId6"/>
          <a:srcRect t="15705" b="15705"/>
          <a:stretch>
            <a:fillRect/>
          </a:stretch>
        </p:blipFill>
        <p:spPr>
          <a:xfrm>
            <a:off x="3419856" y="3913632"/>
            <a:ext cx="2404872" cy="19385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529584" y="5413248"/>
            <a:ext cx="1005840" cy="292608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545896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Équipements</a:t>
            </a:r>
          </a:p>
        </p:txBody>
      </p:sp>
      <p:pic>
        <p:nvPicPr>
          <p:cNvPr id="21" name="Picture 20" descr="piscine-nuit.jpeg"/>
          <p:cNvPicPr>
            <a:picLocks noChangeAspect="1"/>
          </p:cNvPicPr>
          <p:nvPr/>
        </p:nvPicPr>
        <p:blipFill>
          <a:blip r:embed="rId7"/>
          <a:srcRect t="23513" b="23513"/>
          <a:stretch>
            <a:fillRect/>
          </a:stretch>
        </p:blipFill>
        <p:spPr>
          <a:xfrm>
            <a:off x="5998464" y="3913632"/>
            <a:ext cx="5532120" cy="193852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08192" y="5413248"/>
            <a:ext cx="1005840" cy="292608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5896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Piscine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Sécurité et fiabilité dès la conception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73936"/>
            <a:ext cx="5175504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2029967"/>
            <a:ext cx="73152" cy="62179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002536"/>
            <a:ext cx="4416552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Authentification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06040"/>
            <a:ext cx="4626864" cy="2560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Compte e-mail, sessions et mots de passe robustes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73936"/>
            <a:ext cx="5175504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3096" y="2029967"/>
            <a:ext cx="73152" cy="62179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2002536"/>
            <a:ext cx="4416552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Autorisation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606040"/>
            <a:ext cx="4626864" cy="2560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Accès séparés selon le rôle et les objets du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46704"/>
            <a:ext cx="5175504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" y="3602736"/>
            <a:ext cx="73152" cy="62179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575304"/>
            <a:ext cx="4416552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Intégrité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178808"/>
            <a:ext cx="4626864" cy="2560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Transactions atomiques et contrôles de cohérence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3346704"/>
            <a:ext cx="5175504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83096" y="3602736"/>
            <a:ext cx="73152" cy="62179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3575304"/>
            <a:ext cx="4416552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Protection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4178808"/>
            <a:ext cx="4626864" cy="2560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CSRF, validation serveur et en-têtes Django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047488"/>
            <a:ext cx="10689336" cy="960120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248656"/>
            <a:ext cx="1097280" cy="2377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Principe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230368"/>
            <a:ext cx="8732520" cy="40233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Ne jamais faire confiance au navigateur : toutes les règles critiques sont revérifiées côté serveur.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CONFORMITÉ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La loi 09-08 a influencé le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057400"/>
            <a:ext cx="786384" cy="786384"/>
          </a:xfrm>
          <a:prstGeom prst="ellipse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212848"/>
            <a:ext cx="78638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8568" y="2450592"/>
            <a:ext cx="1362456" cy="0"/>
          </a:xfrm>
          <a:prstGeom prst="line">
            <a:avLst/>
          </a:prstGeom>
          <a:ln w="635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8096" y="3090672"/>
            <a:ext cx="219456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Cartographier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547872"/>
            <a:ext cx="2194560" cy="7498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Quelles données ? Pour quelles finalités ?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2057400"/>
            <a:ext cx="786384" cy="78638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212848"/>
            <a:ext cx="78638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93208" y="2450592"/>
            <a:ext cx="1362456" cy="0"/>
          </a:xfrm>
          <a:prstGeom prst="line">
            <a:avLst/>
          </a:prstGeom>
          <a:ln w="635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02736" y="3090672"/>
            <a:ext cx="219456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Notifier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547872"/>
            <a:ext cx="2194560" cy="7498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Déclaration CNDP — formulaire F214 selon le régime applicable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057400"/>
            <a:ext cx="786384" cy="786384"/>
          </a:xfrm>
          <a:prstGeom prst="ellipse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212848"/>
            <a:ext cx="78638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27848" y="2450592"/>
            <a:ext cx="1362456" cy="0"/>
          </a:xfrm>
          <a:prstGeom prst="line">
            <a:avLst/>
          </a:prstGeom>
          <a:ln w="635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37376" y="3090672"/>
            <a:ext cx="219456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Informer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547872"/>
            <a:ext cx="2194560" cy="7498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Politique de confidentialité claire et accessible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0" y="2057400"/>
            <a:ext cx="786384" cy="78638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212848"/>
            <a:ext cx="78638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090672"/>
            <a:ext cx="219456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B2A28"/>
                </a:solidFill>
                <a:latin typeface="Noto Sans"/>
              </a:rPr>
              <a:t>Permettre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547872"/>
            <a:ext cx="2194560" cy="7498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F746F"/>
                </a:solidFill>
                <a:latin typeface="Noto Sans"/>
              </a:rPr>
              <a:t>Accès, rectification, opposition et suppression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4718304"/>
            <a:ext cx="10588752" cy="1042415"/>
          </a:xfrm>
          <a:prstGeom prst="roundRect">
            <a:avLst/>
          </a:prstGeom>
          <a:solidFill>
            <a:srgbClr val="F1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956048"/>
            <a:ext cx="25146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651D"/>
                </a:solidFill>
                <a:latin typeface="Noto Sans"/>
              </a:rPr>
              <a:t>Hébergement hors du Maroc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4919472"/>
            <a:ext cx="72420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2A28"/>
                </a:solidFill>
                <a:latin typeface="Noto Sans"/>
              </a:rPr>
              <a:t>Évaluer et notifier le transfert de données à l’étranger via le formulaire F118 avant mise en production.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062472"/>
            <a:ext cx="45720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Source : CNDP — cndp.ma (consulté le 14/09/2026)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Noto Sans"/>
              </a:rPr>
              <a:t>Un stage au-delà de l’exécution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EDEAE3"/>
                </a:solidFill>
                <a:latin typeface="Noto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106984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Nous n’avons pas seulement codé une demande.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980944"/>
            <a:ext cx="475488" cy="0"/>
          </a:xfrm>
          <a:prstGeom prst="line">
            <a:avLst/>
          </a:prstGeom>
          <a:ln w="508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08960" y="2761488"/>
            <a:ext cx="4754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AE3"/>
                </a:solidFill>
                <a:latin typeface="Noto San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1517904" y="2487168"/>
            <a:ext cx="987552" cy="98755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2688336"/>
            <a:ext cx="98755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685032"/>
            <a:ext cx="254203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Comprendre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105656"/>
            <a:ext cx="2542032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DEAE3"/>
                </a:solidFill>
                <a:latin typeface="Noto Sans"/>
              </a:rPr>
              <a:t>Observer le processus réel et ses contraintes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2980944"/>
            <a:ext cx="475488" cy="0"/>
          </a:xfrm>
          <a:prstGeom prst="line">
            <a:avLst/>
          </a:prstGeom>
          <a:ln w="508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89320" y="2761488"/>
            <a:ext cx="4754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AE3"/>
                </a:solidFill>
                <a:latin typeface="Noto San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398264" y="2487168"/>
            <a:ext cx="987552" cy="987552"/>
          </a:xfrm>
          <a:prstGeom prst="ellipse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2688336"/>
            <a:ext cx="98755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4B3F"/>
                </a:solidFill>
                <a:latin typeface="Not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3" y="3685032"/>
            <a:ext cx="254203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Proposer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3" y="4105656"/>
            <a:ext cx="2542032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DEAE3"/>
                </a:solidFill>
                <a:latin typeface="Noto Sans"/>
              </a:rPr>
              <a:t>Comparer les options et défendre des choix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2980944"/>
            <a:ext cx="475488" cy="0"/>
          </a:xfrm>
          <a:prstGeom prst="line">
            <a:avLst/>
          </a:prstGeom>
          <a:ln w="50800">
            <a:solidFill>
              <a:srgbClr val="EDE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680" y="2761488"/>
            <a:ext cx="4754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AE3"/>
                </a:solidFill>
                <a:latin typeface="Noto San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278624" y="2487168"/>
            <a:ext cx="987552" cy="98755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2688336"/>
            <a:ext cx="98755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685032"/>
            <a:ext cx="254203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Concevoir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105656"/>
            <a:ext cx="2542032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DEAE3"/>
                </a:solidFill>
                <a:latin typeface="Noto Sans"/>
              </a:rPr>
              <a:t>Transformer les règles métier en contrôles fiables</a:t>
            </a:r>
          </a:p>
        </p:txBody>
      </p:sp>
      <p:sp>
        <p:nvSpPr>
          <p:cNvPr id="25" name="Oval 24"/>
          <p:cNvSpPr/>
          <p:nvPr/>
        </p:nvSpPr>
        <p:spPr>
          <a:xfrm>
            <a:off x="10158984" y="2487168"/>
            <a:ext cx="987552" cy="987552"/>
          </a:xfrm>
          <a:prstGeom prst="ellipse">
            <a:avLst/>
          </a:prstGeom>
          <a:solidFill>
            <a:srgbClr val="ED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8984" y="2688336"/>
            <a:ext cx="98755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4B3F"/>
                </a:solidFill>
                <a:latin typeface="Noto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3" y="3685032"/>
            <a:ext cx="254203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Responsabiliser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3" y="4105656"/>
            <a:ext cx="2542032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DEAE3"/>
                </a:solidFill>
                <a:latin typeface="Noto Sans"/>
              </a:rPr>
              <a:t>Intégrer sécurité, données et conformité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21024" y="5166360"/>
            <a:ext cx="4956048" cy="658368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2191" y="5330952"/>
            <a:ext cx="45537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POSTURE D’INGÉNIEUR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EDEAE3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EDEAE3"/>
                </a:solidFill>
                <a:latin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FEUILLE DE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Du démonstrateur au service 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83080"/>
            <a:ext cx="3456432" cy="44256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3456432" cy="603504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309067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ACQUIS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724912"/>
            <a:ext cx="2816352" cy="24688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parcours de réservation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tarification FM6 / standard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expiration à 24 h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e-mails et reçu PDF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back-office et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5413248"/>
            <a:ext cx="804672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4B3F"/>
                </a:solidFill>
                <a:latin typeface="Noto Sans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783080"/>
            <a:ext cx="3456432" cy="44256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5424" y="1783080"/>
            <a:ext cx="3456432" cy="603504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947672"/>
            <a:ext cx="309067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À FINALISER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724912"/>
            <a:ext cx="2816352" cy="24688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passerelle de paiement réelle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validation d’éligibilité FM6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dossier CNDP complet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recette avec utilisateurs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5413248"/>
            <a:ext cx="804672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B5651D"/>
                </a:solidFill>
                <a:latin typeface="Noto Sans"/>
              </a:rPr>
              <a:t>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783080"/>
            <a:ext cx="3456432" cy="44256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5" y="1783080"/>
            <a:ext cx="3456432" cy="603504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5" y="1947672"/>
            <a:ext cx="309067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MISE EN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5" y="2724912"/>
            <a:ext cx="2816352" cy="24688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nom de domaine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hébergement choisi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certificat SSL / HTTPS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PostgreSQL et sauvegardes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6F746F"/>
                </a:solidFill>
                <a:latin typeface="Noto Sans"/>
              </a:defRPr>
            </a:pPr>
            <a:r>
              <a:t>•  supervision et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5" y="5413248"/>
            <a:ext cx="804672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4B3F"/>
                </a:solidFill>
                <a:latin typeface="Noto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scine-nuit.jpeg"/>
          <p:cNvPicPr>
            <a:picLocks noChangeAspect="1"/>
          </p:cNvPicPr>
          <p:nvPr/>
        </p:nvPicPr>
        <p:blipFill>
          <a:blip r:embed="rId2"/>
          <a:srcRect t="7481" b="748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9728" cy="544068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41248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1D"/>
                </a:solidFill>
                <a:latin typeface="Noto San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53312"/>
            <a:ext cx="9875520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Noto Sans"/>
              </a:rPr>
              <a:t>Ce projet n’était pas
seulement technique.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61488"/>
            <a:ext cx="9372600" cy="960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DEAE3"/>
                </a:solidFill>
                <a:latin typeface="Noto Sans"/>
              </a:rPr>
              <a:t>Il nous a appris à relier le besoin métier, l’expérience utilisateur, la sécurité, la conformité juridique et la réalité d’un déploiement.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96512"/>
            <a:ext cx="969264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"/>
              </a:rPr>
              <a:t>Une application utile naît d’un code solide — </a:t>
            </a:r>
            <a:r>
              <a:rPr sz="1800" b="1">
                <a:solidFill>
                  <a:srgbClr val="B5651D"/>
                </a:solidFill>
                <a:latin typeface="Noto Sans"/>
              </a:rPr>
              <a:t>et de décisions responsables.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056632"/>
            <a:ext cx="3246120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5065776"/>
            <a:ext cx="3099815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MERCI POUR VOTRE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87568"/>
            <a:ext cx="45720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Iliane Firachine  ·  Rayane Firachine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ANNEXE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2A28"/>
                </a:solidFill>
                <a:latin typeface="Noto Sans"/>
              </a:rPr>
              <a:t>Sources et périmètre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713232" cy="457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6692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B5651D"/>
                </a:solidFill>
                <a:latin typeface="Noto San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783080"/>
            <a:ext cx="530352" cy="34747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84047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73936"/>
            <a:ext cx="14173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764792"/>
            <a:ext cx="80010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Code source Django, migrations, tests et rapport technique du dépôt FOSE Safar.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834639"/>
            <a:ext cx="530352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843783"/>
            <a:ext cx="384047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14173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Photographies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816351"/>
            <a:ext cx="80010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Visuels de la résidence fournis avec le projet dans static/img/residence/.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30352" cy="347472"/>
          </a:xfrm>
          <a:prstGeom prst="roundRect">
            <a:avLst/>
          </a:prstGeom>
          <a:solidFill>
            <a:srgbClr val="1F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95344"/>
            <a:ext cx="384047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877056"/>
            <a:ext cx="14173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Conformité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867912"/>
            <a:ext cx="80010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Commission Nationale de Contrôle de la Protection des Données à Caractère Personnel — cndp.ma.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937759"/>
            <a:ext cx="530352" cy="347472"/>
          </a:xfrm>
          <a:prstGeom prst="round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946903"/>
            <a:ext cx="384047" cy="2834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928616"/>
            <a:ext cx="14173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A28"/>
                </a:solidFill>
                <a:latin typeface="Noto Sans"/>
              </a:rPr>
              <a:t>Logo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919472"/>
            <a:ext cx="80010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46F"/>
                </a:solidFill>
                <a:latin typeface="Noto Sans"/>
              </a:rPr>
              <a:t>École Marocaine des Sciences de l’Ingénieur — emsi.ma / portail étudiant EMSI.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" y="5961888"/>
            <a:ext cx="10561320" cy="347472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6025896"/>
            <a:ext cx="101955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F4B3F"/>
                </a:solidFill>
                <a:latin typeface="Noto Sans"/>
              </a:rPr>
              <a:t>Les tarifs et règles présentés correspondent à l’état du code au 14 septembre 2026.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F746F"/>
                </a:solidFill>
                <a:latin typeface="Noto Sans"/>
              </a:rPr>
              <a:t>FOSE Safar · Projet de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F746F"/>
                </a:solidFill>
                <a:latin typeface="Noto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FOSE Safar — Présentation du projet de stage</dc:title>
  <dc:subject>Application web de gestion des réservations des appartements FOSE à la résidence Amwaj, Sidi Rahal</dc:subject>
  <dc:creator>Iliane Firachine et Rayane Firachine</dc:creator>
  <cp:keywords>FOSE, EMSI, Django, réservation, appartements, FM6, loi 09-08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